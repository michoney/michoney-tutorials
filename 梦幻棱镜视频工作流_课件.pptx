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762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76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76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762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76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🌈 梦幻棱镜视频工作流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40FB"/>
                </a:solidFill>
                <a:latin typeface="Arial"/>
              </a:defRPr>
            </a:pPr>
            <a:r>
              <a:t>ComfyUI SDXL 架构 · 完整拆解与实战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566160"/>
            <a:ext cx="3657600" cy="254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Arial"/>
              </a:defRPr>
            </a:pPr>
            <a:r>
              <a:t>AI 实战训练营 · 教学课件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5FF"/>
                </a:solidFill>
                <a:latin typeface="Arial"/>
              </a:defRPr>
            </a:pPr>
            <a:r>
              <a:t>双泰坦精简版 · FP16 全流程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1800"/>
            <a:ext cx="2438339" cy="762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38339" y="6781800"/>
            <a:ext cx="2438339" cy="76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678" y="6781800"/>
            <a:ext cx="2438339" cy="76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017" y="6781800"/>
            <a:ext cx="2438339" cy="762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3356" y="6781800"/>
            <a:ext cx="2438339" cy="76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📋 课程大纲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88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硬件环境与精度配置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1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--force-fp16 与双泰坦优化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697480"/>
            <a:ext cx="640080" cy="64008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72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模型选择与下载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53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SDXL 底座 + LoRA + ControlNet + IPAdapter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931920"/>
            <a:ext cx="640080" cy="6400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95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工作流节点逐层拆解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287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从模型加载到视频输出的完整连线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166360"/>
            <a:ext cx="640080" cy="64008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19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参数调优与实战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52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采样器/步数/权重/显存管理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🏗️ 工作流整体架构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Arial"/>
              </a:defRPr>
            </a:pPr>
            <a:r>
              <a:t>三区串联：模型加载 → 条件控制 → 采样输出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291840" cy="41148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3291840" cy="635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92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  <a:latin typeface="Arial"/>
              </a:defRPr>
            </a:pPr>
            <a:r>
              <a:t>① 模型加载区</a:t>
            </a:r>
          </a:p>
        </p:txBody>
      </p:sp>
      <p:sp>
        <p:nvSpPr>
          <p:cNvPr id="12" name="Oval 11"/>
          <p:cNvSpPr/>
          <p:nvPr/>
        </p:nvSpPr>
        <p:spPr>
          <a:xfrm>
            <a:off x="985520" y="2103120"/>
            <a:ext cx="101600" cy="1016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07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Checkpoint (SDXL FP16)</a:t>
            </a:r>
          </a:p>
        </p:txBody>
      </p:sp>
      <p:sp>
        <p:nvSpPr>
          <p:cNvPr id="14" name="Oval 13"/>
          <p:cNvSpPr/>
          <p:nvPr/>
        </p:nvSpPr>
        <p:spPr>
          <a:xfrm>
            <a:off x="985520" y="2560320"/>
            <a:ext cx="101600" cy="1016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53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LoRA ×3 (角色/服饰/光影)</a:t>
            </a:r>
          </a:p>
        </p:txBody>
      </p:sp>
      <p:sp>
        <p:nvSpPr>
          <p:cNvPr id="16" name="Oval 15"/>
          <p:cNvSpPr/>
          <p:nvPr/>
        </p:nvSpPr>
        <p:spPr>
          <a:xfrm>
            <a:off x="985520" y="3017520"/>
            <a:ext cx="101600" cy="1016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99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VAE Loader (FP16)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554480"/>
            <a:ext cx="3291840" cy="41148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554480"/>
            <a:ext cx="3291840" cy="635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44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40FB"/>
                </a:solidFill>
                <a:latin typeface="Arial"/>
              </a:defRPr>
            </a:pPr>
            <a:r>
              <a:t>② 条件控制区</a:t>
            </a:r>
          </a:p>
        </p:txBody>
      </p:sp>
      <p:sp>
        <p:nvSpPr>
          <p:cNvPr id="21" name="Oval 20"/>
          <p:cNvSpPr/>
          <p:nvPr/>
        </p:nvSpPr>
        <p:spPr>
          <a:xfrm>
            <a:off x="4826000" y="2103120"/>
            <a:ext cx="101600" cy="101600"/>
          </a:xfrm>
          <a:prstGeom prst="ellips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07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AnimateDiff 运动模块</a:t>
            </a:r>
          </a:p>
        </p:txBody>
      </p:sp>
      <p:sp>
        <p:nvSpPr>
          <p:cNvPr id="23" name="Oval 22"/>
          <p:cNvSpPr/>
          <p:nvPr/>
        </p:nvSpPr>
        <p:spPr>
          <a:xfrm>
            <a:off x="4826000" y="2560320"/>
            <a:ext cx="101600" cy="101600"/>
          </a:xfrm>
          <a:prstGeom prst="ellips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53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ControlNet ×3 (OpenPose/Canny/Depth)</a:t>
            </a:r>
          </a:p>
        </p:txBody>
      </p:sp>
      <p:sp>
        <p:nvSpPr>
          <p:cNvPr id="25" name="Oval 24"/>
          <p:cNvSpPr/>
          <p:nvPr/>
        </p:nvSpPr>
        <p:spPr>
          <a:xfrm>
            <a:off x="4826000" y="3017520"/>
            <a:ext cx="101600" cy="101600"/>
          </a:xfrm>
          <a:prstGeom prst="ellips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99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IPAdapter FaceID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1554480"/>
            <a:ext cx="3291840" cy="41148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1554480"/>
            <a:ext cx="3291840" cy="635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48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Arial"/>
              </a:defRPr>
            </a:pPr>
            <a:r>
              <a:t>③ 采样输出区</a:t>
            </a:r>
          </a:p>
        </p:txBody>
      </p:sp>
      <p:sp>
        <p:nvSpPr>
          <p:cNvPr id="30" name="Oval 29"/>
          <p:cNvSpPr/>
          <p:nvPr/>
        </p:nvSpPr>
        <p:spPr>
          <a:xfrm>
            <a:off x="8666480" y="2103120"/>
            <a:ext cx="101600" cy="1016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207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KSampler (DPM++ SDE Karras)</a:t>
            </a:r>
          </a:p>
        </p:txBody>
      </p:sp>
      <p:sp>
        <p:nvSpPr>
          <p:cNvPr id="32" name="Oval 31"/>
          <p:cNvSpPr/>
          <p:nvPr/>
        </p:nvSpPr>
        <p:spPr>
          <a:xfrm>
            <a:off x="8666480" y="2560320"/>
            <a:ext cx="101600" cy="1016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253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VAE Decode → Video Combine</a:t>
            </a:r>
          </a:p>
        </p:txBody>
      </p:sp>
      <p:sp>
        <p:nvSpPr>
          <p:cNvPr id="34" name="Oval 33"/>
          <p:cNvSpPr/>
          <p:nvPr/>
        </p:nvSpPr>
        <p:spPr>
          <a:xfrm>
            <a:off x="8666480" y="3017520"/>
            <a:ext cx="101600" cy="1016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99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FFmpeg 视频导出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114800" y="3291840"/>
            <a:ext cx="365760" cy="274320"/>
          </a:xfrm>
          <a:prstGeom prst="rightArrow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7955279" y="3291840"/>
            <a:ext cx="365760" cy="274320"/>
          </a:xfrm>
          <a:prstGeom prst="rightArrow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54F"/>
                </a:solidFill>
                <a:latin typeface="Arial"/>
              </a:defRPr>
            </a:pPr>
            <a:r>
              <a:t>💡 精简版：仅保留 1 个角色 LoRA + 2 层 ControlNet，其余用提示词替代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⚙️ 硬件环境与精度配置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2560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76200" cy="256032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" y="1498600"/>
            <a:ext cx="4648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精度标准 (FP16 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720" y="1930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全程 FP16 半精度，禁用 FP32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20" y="2235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Checkpoint：FP16 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20" y="2540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ControlNet：_fp16.safetensors 专版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720" y="28448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AnimateDiff：FP16 量化版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720" y="31496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LoRA：FP16 权重，不加载 FP32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029200" cy="2560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76200" cy="2560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1120" y="1498600"/>
            <a:ext cx="4648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启动参数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1120" y="1930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--force-fp16 强制开启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1120" y="2235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消费卡标配（泰坦/5090）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1120" y="2540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B300 可开启 BF16 提升画质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1120" y="28448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run_nvidia_gpu.bat 中追加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97680"/>
            <a:ext cx="10515600" cy="20116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297680"/>
            <a:ext cx="76200" cy="201168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720" y="4424680"/>
            <a:ext cx="10134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显存管理策略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720" y="485648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监控：nvidia-smi 实时查看显存占用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720" y="516128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预警：&gt; 90% 降低分辨率/帧数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720" y="546608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分段：32帧拆 16+16 分段渲染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720" y="577088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优化：PYTORCH_CUDA_ALLOC_CONF=max_split_size_mb:512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📦 模型选择与下载清单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76200" cy="45720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" y="1498600"/>
            <a:ext cx="4648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A方案 SDXL 1.1（推荐 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720" y="1930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主模型：Juggernaut XL V9 FP16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20" y="2235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  或 RealVisXL V4.0 FP16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20" y="2540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VAE：sdxl_vae_fp16（内置也可）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720" y="28448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AnimateDiff：mm_sdxl_v3_beta_fp16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720" y="31496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ControlNet：diffusers_xl_canny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720" y="3454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IPAdapter：faceid-plusv2_sdxl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720" y="3759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兼容性最好，90% 创作者在用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720" y="4064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双泰坦可流畅运行（精简版）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76200" cy="4572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1120" y="1498600"/>
            <a:ext cx="4648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B方案 Flux.1 Dev（效果天花板）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1120" y="1930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显存需求翻倍（≥24GB）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1120" y="2235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仅 B300 等高显存设备可用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1120" y="2540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画质精细度更高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1120" y="28448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光影表现更真实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1120" y="31496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1120" y="3454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⚠️ 双泰坦平台无法流畅加载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1120" y="3759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显存不足需降精度/分辨率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1120" y="4064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建议升级硬件后再尝试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🎭 LoRA 三件套详解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Arial"/>
              </a:defRPr>
            </a:pPr>
            <a:r>
              <a:t>棱镜舞会风格全靠这三个 LoRA 堆叠，所有权重 0.6~0.8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291840" cy="38404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3291840" cy="635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92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40FB"/>
                </a:solidFill>
                <a:latin typeface="Arial"/>
              </a:defRPr>
            </a:pPr>
            <a:r>
              <a:t>👤 角色固定 LoRA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20" y="22860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Arial"/>
              </a:defRPr>
            </a:pPr>
            <a:r>
              <a:t>核心，自训练 Rank32~64</a:t>
            </a:r>
            <a:br/>
            <a:r>
              <a:t>作用：锁定人脸/五官/身形</a:t>
            </a:r>
            <a:br/>
            <a:r>
              <a:t>IPAdapter FaceID 配合使用</a:t>
            </a:r>
            <a:br/>
            <a:r>
              <a:t>触发词：自定义专属标签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291840" cy="38404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3291840" cy="635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152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  <a:latin typeface="Arial"/>
              </a:defRPr>
            </a:pPr>
            <a:r>
              <a:t>👗 服饰质感 LoRA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2320" y="22860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Arial"/>
              </a:defRPr>
            </a:pPr>
            <a:r>
              <a:t>宫廷礼服/镭射珠宝专用</a:t>
            </a:r>
            <a:br/>
            <a:r>
              <a:t>Rank 16~32</a:t>
            </a:r>
            <a:br/>
            <a:r>
              <a:t>控制布料褶皱/钻石反光</a:t>
            </a:r>
            <a:br/>
            <a:r>
              <a:t>权重建议 0.7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3291840" cy="38404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3291840" cy="635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912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5FF"/>
                </a:solidFill>
                <a:latin typeface="Arial"/>
              </a:defRPr>
            </a:pPr>
            <a:r>
              <a:t>✨ 光影特效 LoRA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920" y="22860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Arial"/>
              </a:defRPr>
            </a:pPr>
            <a:r>
              <a:t>棱镜色散/镭射流光/梦幻光斑</a:t>
            </a:r>
            <a:br/>
            <a:r>
              <a:t>风格 LoRA，权重 0.6</a:t>
            </a:r>
            <a:br/>
            <a:r>
              <a:t>制造彩虹分光/水晶折射</a:t>
            </a:r>
            <a:br/>
            <a:r>
              <a:t>就是画面里的炫光效果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54F"/>
                </a:solidFill>
                <a:latin typeface="Arial"/>
              </a:defRPr>
            </a:pPr>
            <a:r>
              <a:t>💡 精简版（双泰坦）：仅保留角色 LoRA，服饰和光影效果改用正向提示词描述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🔗 ControlNet 三层防护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Arial"/>
              </a:defRPr>
            </a:pPr>
            <a:r>
              <a:t>三路并行 → 防止画面崩坏的三个关键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291840" cy="34747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3291840" cy="635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92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040FB"/>
                </a:solidFill>
                <a:latin typeface="Arial"/>
              </a:defRPr>
            </a:pPr>
            <a:r>
              <a:t>🧍 OpenPose 姿态控制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作用：锁定人物肢体动作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Arial"/>
              </a:defRPr>
            </a:pPr>
            <a:r>
              <a:t>权重：权重 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72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Arial"/>
              </a:defRPr>
            </a:pPr>
            <a:r>
              <a:t>模型：control_v11p_sd15_openpose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554480"/>
            <a:ext cx="3291840" cy="34747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554480"/>
            <a:ext cx="3291840" cy="635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152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4DFF"/>
                </a:solidFill>
                <a:latin typeface="Arial"/>
              </a:defRPr>
            </a:pPr>
            <a:r>
              <a:t>✏️ Canny 边缘控制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23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作用：锁定画面轮廓/场景结构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23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Arial"/>
              </a:defRPr>
            </a:pPr>
            <a:r>
              <a:t>权重：权重 0.65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232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Arial"/>
              </a:defRPr>
            </a:pPr>
            <a:r>
              <a:t>模型：diffusers_xl_canny_full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554480"/>
            <a:ext cx="3291840" cy="34747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554480"/>
            <a:ext cx="3291840" cy="635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912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5FF"/>
                </a:solidFill>
                <a:latin typeface="Arial"/>
              </a:defRPr>
            </a:pPr>
            <a:r>
              <a:t>📐 Depth 深度控制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99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作用：固定空间透视/光影层次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99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Arial"/>
              </a:defRPr>
            </a:pPr>
            <a:r>
              <a:t>权重：权重 0.60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992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Arial"/>
              </a:defRPr>
            </a:pPr>
            <a:r>
              <a:t>模型：diffusers_xl_depth_full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54F"/>
                </a:solidFill>
                <a:latin typeface="Arial"/>
              </a:defRPr>
            </a:pPr>
            <a:r>
              <a:t>💡 精简版（双泰坦）：仅保留 OpenPose + Canny 两层</a:t>
            </a:r>
            <a:br/>
            <a:r>
              <a:t>Depth 层需要额外显存，可暂时关闭</a:t>
            </a:r>
            <a:br/>
            <a:r>
              <a:t>全部使用 FP16 专用版本 _fp16.safetensors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🎬 AnimateDiff 运动模块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377440" cy="18288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377440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852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40FB"/>
                </a:solidFill>
                <a:latin typeface="Arial"/>
              </a:defRPr>
            </a:pPr>
            <a:r>
              <a:t>运动模型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52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Arial"/>
              </a:defRPr>
            </a:pPr>
            <a:r>
              <a:t>mm_sdxl_v3_beta_fp16</a:t>
            </a:r>
            <a:br/>
            <a:r>
              <a:t>SDXL 专用运动模组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371600"/>
            <a:ext cx="2377440" cy="18288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371600"/>
            <a:ext cx="2377440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172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4DFF"/>
                </a:solidFill>
                <a:latin typeface="Arial"/>
              </a:defRPr>
            </a:pPr>
            <a:r>
              <a:t>帧率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172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Arial"/>
              </a:defRPr>
            </a:pPr>
            <a:r>
              <a:t>24fps</a:t>
            </a:r>
            <a:br/>
            <a:r>
              <a:t>电影级流畅度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377440" cy="18288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377440" cy="508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492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54F"/>
                </a:solidFill>
                <a:latin typeface="Arial"/>
              </a:defRPr>
            </a:pPr>
            <a:r>
              <a:t>帧数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492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Arial"/>
              </a:defRPr>
            </a:pPr>
            <a:r>
              <a:t>32~64 帧</a:t>
            </a:r>
            <a:br/>
            <a:r>
              <a:t>分段渲染上限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377440" cy="18288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371600"/>
            <a:ext cx="2377440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812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5FF"/>
                </a:solidFill>
                <a:latin typeface="Arial"/>
              </a:defRPr>
            </a:pPr>
            <a:r>
              <a:t>运动强度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812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Arial"/>
              </a:defRPr>
            </a:pPr>
            <a:r>
              <a:t>0.7</a:t>
            </a:r>
            <a:br/>
            <a:r>
              <a:t>柔和，避免肢体扭曲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474720"/>
            <a:ext cx="76200" cy="27432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720" y="3601720"/>
            <a:ext cx="10134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工作原理与限制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720" y="403352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AnimateDiff 通过运动模块注入时间轴一致性，使 SDXL 生成连续帧而非静态图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720" y="433832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消费卡无法一次渲染 &gt;64 帧 → 必须分段生成再后期拼接（16+16 或 32+32）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720" y="464312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一镜到底长镜头必须拆分片段，每段维护角色一致性靠 IPAdapter + LoRA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720" y="494792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精简版 32 帧 ≈ 1.3 秒视频；完整版 64 帧 ≈ 2.7 秒；B300 可达 128 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720" y="525272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运动强度 &gt; 0.8 易导致肢体扭曲/画面闪烁，建议控制在 0.5~0.7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🎯 核心参数详解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2560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76200" cy="256032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" y="1498600"/>
            <a:ext cx="4648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采样参数 (KSampler)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720" y="1930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采样器：DPM++ SDE Karras（细节最丰富）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20" y="2235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步数：28~32（平衡质量与速度）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20" y="2540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CFG Scale：5~7（过高→过饱和）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720" y="28448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Denoise：1.0（全采样，非 img2img）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029200" cy="2560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76200" cy="2560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1120" y="1498600"/>
            <a:ext cx="4648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视频/分辨率参数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1120" y="1930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分辨率：1024×1024（消费卡上限）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1120" y="2235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帧数：32（精简）/ 64（完整）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1120" y="2540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帧率：24fps 电影级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1120" y="28448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运动强度：0.7（柔和过渡）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97680"/>
            <a:ext cx="10515600" cy="20116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297680"/>
            <a:ext cx="76200" cy="201168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720" y="4424680"/>
            <a:ext cx="10134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提示词模板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720" y="485648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正向：prismatic light, rainbow refraction, sparkling crystal dress, diamond reflections, ethereal beauty, cinematic lighting, volumetric fog, masterpiece, best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720" y="516128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负向：low quality, worst quality, blurry, deformed, ugly, bad anatomy, watermark, text, extra limbs, fused fingers, bad hands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720" y="5466080"/>
            <a:ext cx="1013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服饰/光影 LoRA 权重用提示词替代 → 在正向中详细描述布料质感、光线效果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⚡ 双泰坦 vs B300 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76200" cy="41148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" y="1498600"/>
            <a:ext cx="4648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双泰坦（你的配置）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720" y="1930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精度：仅 FP16，无法开启 BF16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20" y="2235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帧数：≤32 帧，需分段渲染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20" y="2540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分辨率：1024×1024 上限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720" y="28448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LoRA：仅 1 个角色 LoRA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720" y="31496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ControlNet：2 层（无 Depth）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720" y="3454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输出：分段 → 后期拼接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720" y="3759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特色：性价比高，够用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720" y="4064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720" y="43688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⚠️ 超过 64 帧必 OOM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5029200" cy="41148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76200" cy="4114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1120" y="1498600"/>
            <a:ext cx="4648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NVIDIA B300（顶级配置）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1120" y="1930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精度：原生 BF16，画质更好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1120" y="2235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帧数：64~128 帧一镜到底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1120" y="2540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分辨率：可上 2048+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1120" y="28448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LoRA：3 个同时加载无压力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1120" y="31496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ControlNet：三层全开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1120" y="34544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输出：无需分段，连贯度高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1120" y="37592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特效：LoRA 细节完整保留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1120" y="40640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1120" y="4368800"/>
            <a:ext cx="4648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• 💰 显存 80GB，成本高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54F"/>
                </a:solidFill>
                <a:latin typeface="Arial"/>
              </a:defRPr>
            </a:pPr>
            <a:r>
              <a:t>💡 建议：先用精简版跑通工作流，后续再考虑硬件升级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0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🛠️ 实操步骤（从 0 到 1）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280160" cy="54864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22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22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模型部署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22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下载所有模型文件到对应目录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03120"/>
            <a:ext cx="1280160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53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53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安装节点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53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通过 ComfyUI Manager 安装 4 个必备节点包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34640"/>
            <a:ext cx="1280160" cy="54864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5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885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导入工作流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85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Load dream_prism_lite.json → 检查连线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1280160" cy="548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16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616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配置输入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616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修改模型文件名、上传参考图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97680"/>
            <a:ext cx="1280160" cy="5486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48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348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参数微调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348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根据显存调整帧数/分辨率/步数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29200"/>
            <a:ext cx="1280160" cy="54864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80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080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启动渲染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080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Arial"/>
              </a:defRPr>
            </a:pPr>
            <a:r>
              <a:t>先跑 8 帧测试 → 逐步增加到 32 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762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76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76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762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76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🎯 课程总结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560320"/>
            <a:ext cx="365760" cy="365760"/>
          </a:xfrm>
          <a:prstGeom prst="ellips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Arial"/>
              </a:defRPr>
            </a:pPr>
            <a:r>
              <a:t>FP16 是一切的基础 → 显存翻倍即可省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108960"/>
            <a:ext cx="365760" cy="36576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Arial"/>
              </a:defRPr>
            </a:pPr>
            <a:r>
              <a:t>模型选择 SDXL 1.1 → 兼容性最好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657600"/>
            <a:ext cx="365760" cy="3657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Arial"/>
              </a:defRPr>
            </a:pPr>
            <a:r>
              <a:t>LoRA 堆叠是风格关键 → 精简版至少留角色 LoRA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206240"/>
            <a:ext cx="365760" cy="36576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Arial"/>
              </a:defRPr>
            </a:pPr>
            <a:r>
              <a:t>ControlNet 三层防护 → 防止画面闪烁和崩坏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4754880"/>
            <a:ext cx="365760" cy="365760"/>
          </a:xfrm>
          <a:prstGeom prst="ellipse">
            <a:avLst/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Arial"/>
              </a:defRPr>
            </a:pPr>
            <a:r>
              <a:t>分段渲染 → 双泰坦的必学技巧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5303520"/>
            <a:ext cx="365760" cy="365760"/>
          </a:xfrm>
          <a:prstGeom prst="ellipse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Arial"/>
              </a:defRPr>
            </a:pPr>
            <a:r>
              <a:t>先跑通再优化 → 从 8 帧测试开始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1800"/>
            <a:ext cx="2438339" cy="762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38339" y="6781800"/>
            <a:ext cx="2438339" cy="76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76678" y="6781800"/>
            <a:ext cx="2438339" cy="76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017" y="6781800"/>
            <a:ext cx="2438339" cy="762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53356" y="6781800"/>
            <a:ext cx="2438339" cy="76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